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15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92"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hounkpati" userId="b75eb3420762b6fa" providerId="LiveId" clId="{856DB374-1AE0-46BE-9F85-E8DBD618EEFB}"/>
    <pc:docChg chg="modSld">
      <pc:chgData name="stephanie hounkpati" userId="b75eb3420762b6fa" providerId="LiveId" clId="{856DB374-1AE0-46BE-9F85-E8DBD618EEFB}" dt="2026-08-05T12:52:24.200" v="5"/>
      <pc:docMkLst>
        <pc:docMk/>
      </pc:docMkLst>
      <pc:sldChg chg="modTransition setBg">
        <pc:chgData name="stephanie hounkpati" userId="b75eb3420762b6fa" providerId="LiveId" clId="{856DB374-1AE0-46BE-9F85-E8DBD618EEFB}" dt="2026-08-05T12:51:40.183" v="3"/>
        <pc:sldMkLst>
          <pc:docMk/>
          <pc:sldMk cId="0" sldId="256"/>
        </pc:sldMkLst>
      </pc:sldChg>
      <pc:sldChg chg="setBg">
        <pc:chgData name="stephanie hounkpati" userId="b75eb3420762b6fa" providerId="LiveId" clId="{856DB374-1AE0-46BE-9F85-E8DBD618EEFB}" dt="2026-08-05T12:52:13.102" v="4"/>
        <pc:sldMkLst>
          <pc:docMk/>
          <pc:sldMk cId="0" sldId="262"/>
        </pc:sldMkLst>
      </pc:sldChg>
      <pc:sldChg chg="setBg">
        <pc:chgData name="stephanie hounkpati" userId="b75eb3420762b6fa" providerId="LiveId" clId="{856DB374-1AE0-46BE-9F85-E8DBD618EEFB}" dt="2026-08-05T12:52:24.200" v="5"/>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102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23404556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08722339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3494192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25715443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3016682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405800643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8773801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1616772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22291060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7314084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0574069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873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8/5/2026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‹N°›</a:t>
            </a:fld>
            <a:endParaRPr lang="en-US" dirty="0"/>
          </a:p>
        </p:txBody>
      </p:sp>
    </p:spTree>
    <p:extLst>
      <p:ext uri="{BB962C8B-B14F-4D97-AF65-F5344CB8AC3E}">
        <p14:creationId xmlns:p14="http://schemas.microsoft.com/office/powerpoint/2010/main" val="2494708960"/>
      </p:ext>
    </p:extLst>
  </p:cSld>
  <p:clrMap bg1="dk1" tx1="lt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539"/>
        </a:solidFill>
        <a:effectLst/>
      </p:bgPr>
    </p:bg>
    <p:spTree>
      <p:nvGrpSpPr>
        <p:cNvPr id="1" name=""/>
        <p:cNvGrpSpPr/>
        <p:nvPr/>
      </p:nvGrpSpPr>
      <p:grpSpPr>
        <a:xfrm>
          <a:off x="0" y="0"/>
          <a:ext cx="0" cy="0"/>
          <a:chOff x="0" y="0"/>
          <a:chExt cx="0" cy="0"/>
        </a:xfrm>
      </p:grpSpPr>
      <p:sp>
        <p:nvSpPr>
          <p:cNvPr id="2" name="Text 0"/>
          <p:cNvSpPr/>
          <p:nvPr/>
        </p:nvSpPr>
        <p:spPr>
          <a:xfrm>
            <a:off x="731520" y="2286000"/>
            <a:ext cx="1069848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CUSTOMER CHURN ANALYSIS</a:t>
            </a:r>
            <a:endParaRPr lang="en-US" sz="4000" dirty="0"/>
          </a:p>
        </p:txBody>
      </p:sp>
      <p:sp>
        <p:nvSpPr>
          <p:cNvPr id="3" name="Text 1"/>
          <p:cNvSpPr/>
          <p:nvPr/>
        </p:nvSpPr>
        <p:spPr>
          <a:xfrm>
            <a:off x="731520" y="3063240"/>
            <a:ext cx="1069848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Telco Customer Churn Dataset — Business Analytics Presentation</a:t>
            </a:r>
            <a:endParaRPr lang="en-US" sz="1800" dirty="0"/>
          </a:p>
        </p:txBody>
      </p:sp>
      <p:sp>
        <p:nvSpPr>
          <p:cNvPr id="4" name="Shape 2"/>
          <p:cNvSpPr/>
          <p:nvPr/>
        </p:nvSpPr>
        <p:spPr>
          <a:xfrm>
            <a:off x="731520" y="3794760"/>
            <a:ext cx="1097280" cy="36576"/>
          </a:xfrm>
          <a:prstGeom prst="rect">
            <a:avLst/>
          </a:prstGeom>
          <a:solidFill>
            <a:srgbClr val="CADCFC"/>
          </a:solidFill>
          <a:ln/>
        </p:spPr>
      </p:sp>
      <p:sp>
        <p:nvSpPr>
          <p:cNvPr id="5" name="Text 3"/>
          <p:cNvSpPr/>
          <p:nvPr/>
        </p:nvSpPr>
        <p:spPr>
          <a:xfrm>
            <a:off x="731520" y="4114800"/>
            <a:ext cx="7315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Prepared by Stéphanie HOUNKPATI</a:t>
            </a:r>
            <a:endParaRPr lang="en-US" sz="1600" dirty="0"/>
          </a:p>
        </p:txBody>
      </p:sp>
      <p:sp>
        <p:nvSpPr>
          <p:cNvPr id="6" name="Text 4"/>
          <p:cNvSpPr/>
          <p:nvPr/>
        </p:nvSpPr>
        <p:spPr>
          <a:xfrm>
            <a:off x="731520" y="4480560"/>
            <a:ext cx="7315200" cy="365760"/>
          </a:xfrm>
          <a:prstGeom prst="rect">
            <a:avLst/>
          </a:prstGeom>
          <a:noFill/>
          <a:ln/>
        </p:spPr>
        <p:txBody>
          <a:bodyPr wrap="square" rtlCol="0" anchor="ctr"/>
          <a:lstStyle/>
          <a:p>
            <a:pPr marL="0" indent="0">
              <a:buNone/>
            </a:pPr>
            <a:r>
              <a:rPr lang="en-US" sz="1400" dirty="0">
                <a:solidFill>
                  <a:srgbClr val="9FB3D9"/>
                </a:solidFill>
                <a:latin typeface="Calibri" pitchFamily="34" charset="0"/>
                <a:ea typeface="Calibri" pitchFamily="34" charset="-122"/>
                <a:cs typeface="Calibri" pitchFamily="34" charset="-120"/>
              </a:rPr>
              <a:t>AnalystLab Africa Consulting — Week 1</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0C223F"/>
                </a:solidFill>
                <a:latin typeface="Cambria" pitchFamily="34" charset="0"/>
                <a:ea typeface="Cambria" pitchFamily="34" charset="-122"/>
                <a:cs typeface="Cambria" pitchFamily="34" charset="-120"/>
              </a:rPr>
              <a:t>The Business Problem</a:t>
            </a:r>
            <a:endParaRPr lang="en-US" sz="3000" dirty="0"/>
          </a:p>
        </p:txBody>
      </p:sp>
      <p:sp>
        <p:nvSpPr>
          <p:cNvPr id="3" name="Text 1"/>
          <p:cNvSpPr/>
          <p:nvPr/>
        </p:nvSpPr>
        <p:spPr>
          <a:xfrm>
            <a:off x="548640" y="1234440"/>
            <a:ext cx="5577840" cy="219456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In a Telecom market, retaining an existing customer is far cheaper than acquiring a new one. We need to understand which customers are likely to churn and why in order to act before they leave.</a:t>
            </a:r>
            <a:endParaRPr lang="en-US" sz="1500" dirty="0"/>
          </a:p>
        </p:txBody>
      </p:sp>
      <p:sp>
        <p:nvSpPr>
          <p:cNvPr id="4" name="Text 2"/>
          <p:cNvSpPr/>
          <p:nvPr/>
        </p:nvSpPr>
        <p:spPr>
          <a:xfrm>
            <a:off x="548640" y="3383280"/>
            <a:ext cx="5486400" cy="365760"/>
          </a:xfrm>
          <a:prstGeom prst="rect">
            <a:avLst/>
          </a:prstGeom>
          <a:noFill/>
          <a:ln/>
        </p:spPr>
        <p:txBody>
          <a:bodyPr wrap="square"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Business Questions</a:t>
            </a:r>
            <a:endParaRPr lang="en-US" sz="1400" dirty="0"/>
          </a:p>
        </p:txBody>
      </p:sp>
      <p:sp>
        <p:nvSpPr>
          <p:cNvPr id="5" name="Text 3"/>
          <p:cNvSpPr/>
          <p:nvPr/>
        </p:nvSpPr>
        <p:spPr>
          <a:xfrm>
            <a:off x="548640" y="3794760"/>
            <a:ext cx="5486400" cy="2194560"/>
          </a:xfrm>
          <a:prstGeom prst="rect">
            <a:avLst/>
          </a:prstGeom>
          <a:noFill/>
          <a:ln/>
        </p:spPr>
        <p:txBody>
          <a:bodyPr wrap="square"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What does the customer base look like?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Which segments have the highest churn?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Does contract type influence retention?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Which services and payment methods drive churn?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What actions should management take?</a:t>
            </a:r>
            <a:endParaRPr lang="en-US" sz="1300" dirty="0"/>
          </a:p>
        </p:txBody>
      </p:sp>
      <p:sp>
        <p:nvSpPr>
          <p:cNvPr id="6" name="Shape 4"/>
          <p:cNvSpPr/>
          <p:nvPr/>
        </p:nvSpPr>
        <p:spPr>
          <a:xfrm>
            <a:off x="6492240" y="1234440"/>
            <a:ext cx="5120640" cy="1417320"/>
          </a:xfrm>
          <a:prstGeom prst="roundRect">
            <a:avLst>
              <a:gd name="adj" fmla="val 5161"/>
            </a:avLst>
          </a:prstGeom>
          <a:solidFill>
            <a:srgbClr val="F2F5FA"/>
          </a:solidFill>
          <a:ln w="12700">
            <a:solidFill>
              <a:srgbClr val="F2F5FA"/>
            </a:solidFill>
            <a:prstDash val="solid"/>
          </a:ln>
        </p:spPr>
      </p:sp>
      <p:sp>
        <p:nvSpPr>
          <p:cNvPr id="7" name="Text 5"/>
          <p:cNvSpPr/>
          <p:nvPr/>
        </p:nvSpPr>
        <p:spPr>
          <a:xfrm>
            <a:off x="6766560" y="1371600"/>
            <a:ext cx="4572000" cy="685800"/>
          </a:xfrm>
          <a:prstGeom prst="rect">
            <a:avLst/>
          </a:prstGeom>
          <a:noFill/>
          <a:ln/>
        </p:spPr>
        <p:txBody>
          <a:bodyPr wrap="square" lIns="0" tIns="0" rIns="0" bIns="0" rtlCol="0" anchor="ctr"/>
          <a:lstStyle/>
          <a:p>
            <a:pPr marL="0" indent="0">
              <a:buNone/>
            </a:pPr>
            <a:r>
              <a:rPr lang="en-US" sz="4000" b="1" dirty="0">
                <a:solidFill>
                  <a:srgbClr val="0C223F"/>
                </a:solidFill>
                <a:latin typeface="Cambria" pitchFamily="34" charset="0"/>
                <a:ea typeface="Cambria" pitchFamily="34" charset="-122"/>
                <a:cs typeface="Cambria" pitchFamily="34" charset="-120"/>
              </a:rPr>
              <a:t>7,043</a:t>
            </a:r>
            <a:endParaRPr lang="en-US" sz="4000" dirty="0"/>
          </a:p>
        </p:txBody>
      </p:sp>
      <p:sp>
        <p:nvSpPr>
          <p:cNvPr id="8" name="Text 6"/>
          <p:cNvSpPr/>
          <p:nvPr/>
        </p:nvSpPr>
        <p:spPr>
          <a:xfrm>
            <a:off x="6766560" y="2084832"/>
            <a:ext cx="457200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total customers in the dataset</a:t>
            </a:r>
            <a:endParaRPr lang="en-US" sz="1200" dirty="0"/>
          </a:p>
        </p:txBody>
      </p:sp>
      <p:sp>
        <p:nvSpPr>
          <p:cNvPr id="9" name="Shape 7"/>
          <p:cNvSpPr/>
          <p:nvPr/>
        </p:nvSpPr>
        <p:spPr>
          <a:xfrm>
            <a:off x="6492240" y="2834640"/>
            <a:ext cx="5120640" cy="1417320"/>
          </a:xfrm>
          <a:prstGeom prst="roundRect">
            <a:avLst>
              <a:gd name="adj" fmla="val 5161"/>
            </a:avLst>
          </a:prstGeom>
          <a:solidFill>
            <a:srgbClr val="F2F5FA"/>
          </a:solidFill>
          <a:ln w="12700">
            <a:solidFill>
              <a:srgbClr val="F2F5FA"/>
            </a:solidFill>
            <a:prstDash val="solid"/>
          </a:ln>
        </p:spPr>
      </p:sp>
      <p:sp>
        <p:nvSpPr>
          <p:cNvPr id="10" name="Text 8"/>
          <p:cNvSpPr/>
          <p:nvPr/>
        </p:nvSpPr>
        <p:spPr>
          <a:xfrm>
            <a:off x="6766560" y="2971800"/>
            <a:ext cx="4572000" cy="685800"/>
          </a:xfrm>
          <a:prstGeom prst="rect">
            <a:avLst/>
          </a:prstGeom>
          <a:noFill/>
          <a:ln/>
        </p:spPr>
        <p:txBody>
          <a:bodyPr wrap="square" lIns="0" tIns="0" rIns="0" bIns="0" rtlCol="0" anchor="ctr"/>
          <a:lstStyle/>
          <a:p>
            <a:pPr marL="0" indent="0">
              <a:buNone/>
            </a:pPr>
            <a:r>
              <a:rPr lang="en-US" sz="4000" b="1" dirty="0">
                <a:solidFill>
                  <a:srgbClr val="8C1C1C"/>
                </a:solidFill>
                <a:latin typeface="Cambria" pitchFamily="34" charset="0"/>
                <a:ea typeface="Cambria" pitchFamily="34" charset="-122"/>
                <a:cs typeface="Cambria" pitchFamily="34" charset="-120"/>
              </a:rPr>
              <a:t>26.5%</a:t>
            </a:r>
            <a:endParaRPr lang="en-US" sz="4000" dirty="0"/>
          </a:p>
        </p:txBody>
      </p:sp>
      <p:sp>
        <p:nvSpPr>
          <p:cNvPr id="11" name="Text 9"/>
          <p:cNvSpPr/>
          <p:nvPr/>
        </p:nvSpPr>
        <p:spPr>
          <a:xfrm>
            <a:off x="6766560" y="3685032"/>
            <a:ext cx="457200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overall customer churn rate — above typical telecom industry benchmarks</a:t>
            </a:r>
            <a:endParaRPr lang="en-US" sz="1200" dirty="0"/>
          </a:p>
        </p:txBody>
      </p:sp>
      <p:sp>
        <p:nvSpPr>
          <p:cNvPr id="12" name="Shape 10"/>
          <p:cNvSpPr/>
          <p:nvPr/>
        </p:nvSpPr>
        <p:spPr>
          <a:xfrm>
            <a:off x="6492240" y="4434840"/>
            <a:ext cx="5120640" cy="1417320"/>
          </a:xfrm>
          <a:prstGeom prst="roundRect">
            <a:avLst>
              <a:gd name="adj" fmla="val 5161"/>
            </a:avLst>
          </a:prstGeom>
          <a:solidFill>
            <a:srgbClr val="F2F5FA"/>
          </a:solidFill>
          <a:ln w="12700">
            <a:solidFill>
              <a:srgbClr val="F2F5FA"/>
            </a:solidFill>
            <a:prstDash val="solid"/>
          </a:ln>
        </p:spPr>
      </p:sp>
      <p:sp>
        <p:nvSpPr>
          <p:cNvPr id="13" name="Text 11"/>
          <p:cNvSpPr/>
          <p:nvPr/>
        </p:nvSpPr>
        <p:spPr>
          <a:xfrm>
            <a:off x="6766560" y="4572000"/>
            <a:ext cx="4572000" cy="685800"/>
          </a:xfrm>
          <a:prstGeom prst="rect">
            <a:avLst/>
          </a:prstGeom>
          <a:noFill/>
          <a:ln/>
        </p:spPr>
        <p:txBody>
          <a:bodyPr wrap="square" lIns="0" tIns="0" rIns="0" bIns="0" rtlCol="0" anchor="ctr"/>
          <a:lstStyle/>
          <a:p>
            <a:pPr marL="0" indent="0">
              <a:buNone/>
            </a:pPr>
            <a:r>
              <a:rPr lang="en-US" sz="3600" b="1" dirty="0">
                <a:solidFill>
                  <a:srgbClr val="0C223F"/>
                </a:solidFill>
                <a:latin typeface="Cambria" pitchFamily="34" charset="0"/>
                <a:ea typeface="Cambria" pitchFamily="34" charset="-122"/>
                <a:cs typeface="Cambria" pitchFamily="34" charset="-120"/>
              </a:rPr>
              <a:t>7,043 × 21</a:t>
            </a:r>
            <a:endParaRPr lang="en-US" sz="3600" dirty="0"/>
          </a:p>
        </p:txBody>
      </p:sp>
      <p:sp>
        <p:nvSpPr>
          <p:cNvPr id="14" name="Text 12"/>
          <p:cNvSpPr/>
          <p:nvPr/>
        </p:nvSpPr>
        <p:spPr>
          <a:xfrm>
            <a:off x="6766560" y="5285232"/>
            <a:ext cx="457200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dataset dimensions — rows × columns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0C223F"/>
                </a:solidFill>
                <a:latin typeface="Cambria" pitchFamily="34" charset="0"/>
                <a:ea typeface="Cambria" pitchFamily="34" charset="-122"/>
                <a:cs typeface="Cambria" pitchFamily="34" charset="-120"/>
              </a:rPr>
              <a:t>Dataset &amp; Data Preparation</a:t>
            </a:r>
            <a:endParaRPr lang="en-US" sz="3000" dirty="0"/>
          </a:p>
        </p:txBody>
      </p:sp>
      <p:sp>
        <p:nvSpPr>
          <p:cNvPr id="3" name="Text 1"/>
          <p:cNvSpPr/>
          <p:nvPr/>
        </p:nvSpPr>
        <p:spPr>
          <a:xfrm>
            <a:off x="548640" y="1188720"/>
            <a:ext cx="10972800" cy="365760"/>
          </a:xfrm>
          <a:prstGeom prst="rect">
            <a:avLst/>
          </a:prstGeom>
          <a:noFill/>
          <a:ln/>
        </p:spPr>
        <p:txBody>
          <a:bodyPr wrap="square" rtlCol="0" anchor="ctr"/>
          <a:lstStyle/>
          <a:p>
            <a:pPr marL="0" indent="0">
              <a:buNone/>
            </a:pPr>
            <a:r>
              <a:rPr lang="en-US" sz="1500" b="1" dirty="0">
                <a:solidFill>
                  <a:srgbClr val="0C223F"/>
                </a:solidFill>
                <a:latin typeface="Calibri" pitchFamily="34" charset="0"/>
                <a:ea typeface="Calibri" pitchFamily="34" charset="-122"/>
                <a:cs typeface="Calibri" pitchFamily="34" charset="-120"/>
              </a:rPr>
              <a:t>Telco Customer Churn Dataset — 7,043 rows, 21 columns</a:t>
            </a:r>
            <a:endParaRPr lang="en-US" sz="1500" dirty="0"/>
          </a:p>
        </p:txBody>
      </p:sp>
      <p:sp>
        <p:nvSpPr>
          <p:cNvPr id="4" name="Shape 2"/>
          <p:cNvSpPr/>
          <p:nvPr/>
        </p:nvSpPr>
        <p:spPr>
          <a:xfrm>
            <a:off x="548640" y="1828800"/>
            <a:ext cx="320040" cy="320040"/>
          </a:xfrm>
          <a:prstGeom prst="roundRect">
            <a:avLst>
              <a:gd name="adj" fmla="val 142857"/>
            </a:avLst>
          </a:prstGeom>
          <a:solidFill>
            <a:srgbClr val="0C223F"/>
          </a:solidFill>
          <a:ln w="12700">
            <a:solidFill>
              <a:srgbClr val="0C223F"/>
            </a:solidFill>
            <a:prstDash val="solid"/>
          </a:ln>
        </p:spPr>
      </p:sp>
      <p:sp>
        <p:nvSpPr>
          <p:cNvPr id="5" name="Text 3"/>
          <p:cNvSpPr/>
          <p:nvPr/>
        </p:nvSpPr>
        <p:spPr>
          <a:xfrm>
            <a:off x="548640" y="1828800"/>
            <a:ext cx="320040" cy="320040"/>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6" name="Text 4"/>
          <p:cNvSpPr/>
          <p:nvPr/>
        </p:nvSpPr>
        <p:spPr>
          <a:xfrm>
            <a:off x="1051560" y="1801368"/>
            <a:ext cx="4937760"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No duplicate rows found</a:t>
            </a:r>
            <a:endParaRPr lang="en-US" sz="1400" dirty="0"/>
          </a:p>
        </p:txBody>
      </p:sp>
      <p:sp>
        <p:nvSpPr>
          <p:cNvPr id="7" name="Text 5"/>
          <p:cNvSpPr/>
          <p:nvPr/>
        </p:nvSpPr>
        <p:spPr>
          <a:xfrm>
            <a:off x="6126480" y="1801368"/>
            <a:ext cx="54864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Confirmed via full-row duplicate check</a:t>
            </a:r>
            <a:endParaRPr lang="en-US" sz="1200" dirty="0"/>
          </a:p>
        </p:txBody>
      </p:sp>
      <p:sp>
        <p:nvSpPr>
          <p:cNvPr id="8" name="Shape 6"/>
          <p:cNvSpPr/>
          <p:nvPr/>
        </p:nvSpPr>
        <p:spPr>
          <a:xfrm>
            <a:off x="548640" y="2542032"/>
            <a:ext cx="320040" cy="320040"/>
          </a:xfrm>
          <a:prstGeom prst="roundRect">
            <a:avLst>
              <a:gd name="adj" fmla="val 142857"/>
            </a:avLst>
          </a:prstGeom>
          <a:solidFill>
            <a:srgbClr val="0C223F"/>
          </a:solidFill>
          <a:ln w="12700">
            <a:solidFill>
              <a:srgbClr val="0C223F"/>
            </a:solidFill>
            <a:prstDash val="solid"/>
          </a:ln>
        </p:spPr>
      </p:sp>
      <p:sp>
        <p:nvSpPr>
          <p:cNvPr id="9" name="Text 7"/>
          <p:cNvSpPr/>
          <p:nvPr/>
        </p:nvSpPr>
        <p:spPr>
          <a:xfrm>
            <a:off x="548640" y="2542032"/>
            <a:ext cx="320040" cy="320040"/>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0" name="Text 8"/>
          <p:cNvSpPr/>
          <p:nvPr/>
        </p:nvSpPr>
        <p:spPr>
          <a:xfrm>
            <a:off x="1051560" y="2514600"/>
            <a:ext cx="4937760"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TotalCharges retyped to numeric</a:t>
            </a:r>
            <a:endParaRPr lang="en-US" sz="1400" dirty="0"/>
          </a:p>
        </p:txBody>
      </p:sp>
      <p:sp>
        <p:nvSpPr>
          <p:cNvPr id="11" name="Text 9"/>
          <p:cNvSpPr/>
          <p:nvPr/>
        </p:nvSpPr>
        <p:spPr>
          <a:xfrm>
            <a:off x="6126480" y="2514600"/>
            <a:ext cx="54864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Was stored as text due to blank-string entries</a:t>
            </a:r>
            <a:endParaRPr lang="en-US" sz="1200" dirty="0"/>
          </a:p>
        </p:txBody>
      </p:sp>
      <p:sp>
        <p:nvSpPr>
          <p:cNvPr id="12" name="Shape 10"/>
          <p:cNvSpPr/>
          <p:nvPr/>
        </p:nvSpPr>
        <p:spPr>
          <a:xfrm>
            <a:off x="548640" y="3255264"/>
            <a:ext cx="320040" cy="320040"/>
          </a:xfrm>
          <a:prstGeom prst="roundRect">
            <a:avLst>
              <a:gd name="adj" fmla="val 142857"/>
            </a:avLst>
          </a:prstGeom>
          <a:solidFill>
            <a:srgbClr val="0C223F"/>
          </a:solidFill>
          <a:ln w="12700">
            <a:solidFill>
              <a:srgbClr val="0C223F"/>
            </a:solidFill>
            <a:prstDash val="solid"/>
          </a:ln>
        </p:spPr>
      </p:sp>
      <p:sp>
        <p:nvSpPr>
          <p:cNvPr id="13" name="Text 11"/>
          <p:cNvSpPr/>
          <p:nvPr/>
        </p:nvSpPr>
        <p:spPr>
          <a:xfrm>
            <a:off x="548640" y="3255264"/>
            <a:ext cx="320040" cy="320040"/>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4" name="Text 12"/>
          <p:cNvSpPr/>
          <p:nvPr/>
        </p:nvSpPr>
        <p:spPr>
          <a:xfrm>
            <a:off x="1051560" y="3227832"/>
            <a:ext cx="4937760"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Missing TotalCharges set to 0</a:t>
            </a:r>
            <a:endParaRPr lang="en-US" sz="1400" dirty="0"/>
          </a:p>
        </p:txBody>
      </p:sp>
      <p:sp>
        <p:nvSpPr>
          <p:cNvPr id="15" name="Text 13"/>
          <p:cNvSpPr/>
          <p:nvPr/>
        </p:nvSpPr>
        <p:spPr>
          <a:xfrm>
            <a:off x="6126480" y="3227832"/>
            <a:ext cx="54864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All cases matched tenure = 0 (new, unbilled customers)</a:t>
            </a:r>
            <a:endParaRPr lang="en-US" sz="1200" dirty="0"/>
          </a:p>
        </p:txBody>
      </p:sp>
      <p:sp>
        <p:nvSpPr>
          <p:cNvPr id="16" name="Shape 14"/>
          <p:cNvSpPr/>
          <p:nvPr/>
        </p:nvSpPr>
        <p:spPr>
          <a:xfrm>
            <a:off x="548640" y="3968496"/>
            <a:ext cx="320040" cy="320040"/>
          </a:xfrm>
          <a:prstGeom prst="roundRect">
            <a:avLst>
              <a:gd name="adj" fmla="val 142857"/>
            </a:avLst>
          </a:prstGeom>
          <a:solidFill>
            <a:srgbClr val="0C223F"/>
          </a:solidFill>
          <a:ln w="12700">
            <a:solidFill>
              <a:srgbClr val="0C223F"/>
            </a:solidFill>
            <a:prstDash val="solid"/>
          </a:ln>
        </p:spPr>
      </p:sp>
      <p:sp>
        <p:nvSpPr>
          <p:cNvPr id="17" name="Text 15"/>
          <p:cNvSpPr/>
          <p:nvPr/>
        </p:nvSpPr>
        <p:spPr>
          <a:xfrm>
            <a:off x="548640" y="3968496"/>
            <a:ext cx="320040" cy="320040"/>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8" name="Text 16"/>
          <p:cNvSpPr/>
          <p:nvPr/>
        </p:nvSpPr>
        <p:spPr>
          <a:xfrm>
            <a:off x="1051560" y="3941064"/>
            <a:ext cx="4937760"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Redundant categories simplified</a:t>
            </a:r>
            <a:endParaRPr lang="en-US" sz="1400" dirty="0"/>
          </a:p>
        </p:txBody>
      </p:sp>
      <p:sp>
        <p:nvSpPr>
          <p:cNvPr id="19" name="Text 17"/>
          <p:cNvSpPr/>
          <p:nvPr/>
        </p:nvSpPr>
        <p:spPr>
          <a:xfrm>
            <a:off x="6126480" y="3941064"/>
            <a:ext cx="54864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"No internet/phone service" merged into "No"</a:t>
            </a:r>
            <a:endParaRPr lang="en-US" sz="1200" dirty="0"/>
          </a:p>
        </p:txBody>
      </p:sp>
      <p:sp>
        <p:nvSpPr>
          <p:cNvPr id="20" name="Shape 18"/>
          <p:cNvSpPr/>
          <p:nvPr/>
        </p:nvSpPr>
        <p:spPr>
          <a:xfrm>
            <a:off x="548640" y="4681728"/>
            <a:ext cx="320040" cy="320040"/>
          </a:xfrm>
          <a:prstGeom prst="roundRect">
            <a:avLst>
              <a:gd name="adj" fmla="val 142857"/>
            </a:avLst>
          </a:prstGeom>
          <a:solidFill>
            <a:srgbClr val="0C223F"/>
          </a:solidFill>
          <a:ln w="12700">
            <a:solidFill>
              <a:srgbClr val="0C223F"/>
            </a:solidFill>
            <a:prstDash val="solid"/>
          </a:ln>
        </p:spPr>
      </p:sp>
      <p:sp>
        <p:nvSpPr>
          <p:cNvPr id="21" name="Text 19"/>
          <p:cNvSpPr/>
          <p:nvPr/>
        </p:nvSpPr>
        <p:spPr>
          <a:xfrm>
            <a:off x="548640" y="4681728"/>
            <a:ext cx="320040" cy="320040"/>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2" name="Text 20"/>
          <p:cNvSpPr/>
          <p:nvPr/>
        </p:nvSpPr>
        <p:spPr>
          <a:xfrm>
            <a:off x="1051560" y="4654296"/>
            <a:ext cx="4937760"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tenure_group created</a:t>
            </a:r>
            <a:endParaRPr lang="en-US" sz="1400" dirty="0"/>
          </a:p>
        </p:txBody>
      </p:sp>
      <p:sp>
        <p:nvSpPr>
          <p:cNvPr id="23" name="Text 21"/>
          <p:cNvSpPr/>
          <p:nvPr/>
        </p:nvSpPr>
        <p:spPr>
          <a:xfrm>
            <a:off x="6126480" y="4654296"/>
            <a:ext cx="54864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0-12 / 13-24 / 25-48 / 49-72 months, for clearer comparisons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2800" b="1" dirty="0">
                <a:solidFill>
                  <a:srgbClr val="0C223F"/>
                </a:solidFill>
                <a:latin typeface="Cambria" pitchFamily="34" charset="0"/>
                <a:ea typeface="Cambria" pitchFamily="34" charset="-122"/>
                <a:cs typeface="Cambria" pitchFamily="34" charset="-120"/>
              </a:rPr>
              <a:t>Factor 1 — Contract Type</a:t>
            </a:r>
            <a:endParaRPr lang="en-US" sz="2800" dirty="0"/>
          </a:p>
        </p:txBody>
      </p:sp>
      <p:sp>
        <p:nvSpPr>
          <p:cNvPr id="4" name="Shape 1"/>
          <p:cNvSpPr/>
          <p:nvPr/>
        </p:nvSpPr>
        <p:spPr>
          <a:xfrm>
            <a:off x="6583680" y="1234440"/>
            <a:ext cx="4846320" cy="1371600"/>
          </a:xfrm>
          <a:prstGeom prst="roundRect">
            <a:avLst>
              <a:gd name="adj" fmla="val 5333"/>
            </a:avLst>
          </a:prstGeom>
          <a:solidFill>
            <a:srgbClr val="F2F5FA"/>
          </a:solidFill>
          <a:ln w="12700">
            <a:solidFill>
              <a:srgbClr val="F2F5FA"/>
            </a:solidFill>
            <a:prstDash val="solid"/>
          </a:ln>
        </p:spPr>
      </p:sp>
      <p:sp>
        <p:nvSpPr>
          <p:cNvPr id="5" name="Text 2"/>
          <p:cNvSpPr/>
          <p:nvPr/>
        </p:nvSpPr>
        <p:spPr>
          <a:xfrm>
            <a:off x="6812280" y="1325880"/>
            <a:ext cx="4389120" cy="777240"/>
          </a:xfrm>
          <a:prstGeom prst="rect">
            <a:avLst/>
          </a:prstGeom>
          <a:noFill/>
          <a:ln/>
        </p:spPr>
        <p:txBody>
          <a:bodyPr wrap="square" lIns="0" tIns="0" rIns="0" bIns="0" rtlCol="0" anchor="ctr"/>
          <a:lstStyle/>
          <a:p>
            <a:pPr marL="0" indent="0">
              <a:buNone/>
            </a:pPr>
            <a:r>
              <a:rPr lang="en-US" sz="3400" b="1" dirty="0">
                <a:solidFill>
                  <a:srgbClr val="8C1C1C"/>
                </a:solidFill>
                <a:latin typeface="Cambria" pitchFamily="34" charset="0"/>
                <a:ea typeface="Cambria" pitchFamily="34" charset="-122"/>
                <a:cs typeface="Cambria" pitchFamily="34" charset="-120"/>
              </a:rPr>
              <a:t>88.6%</a:t>
            </a:r>
            <a:endParaRPr lang="en-US" sz="3400" dirty="0"/>
          </a:p>
        </p:txBody>
      </p:sp>
      <p:sp>
        <p:nvSpPr>
          <p:cNvPr id="6" name="Text 3"/>
          <p:cNvSpPr/>
          <p:nvPr/>
        </p:nvSpPr>
        <p:spPr>
          <a:xfrm>
            <a:off x="6812280" y="2084832"/>
            <a:ext cx="43891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of ALL churned customers come from month-to-month contracts</a:t>
            </a:r>
            <a:endParaRPr lang="en-US" sz="1200" dirty="0"/>
          </a:p>
        </p:txBody>
      </p:sp>
      <p:sp>
        <p:nvSpPr>
          <p:cNvPr id="7" name="Text 4"/>
          <p:cNvSpPr/>
          <p:nvPr/>
        </p:nvSpPr>
        <p:spPr>
          <a:xfrm>
            <a:off x="6583680" y="2834640"/>
            <a:ext cx="4846320" cy="320040"/>
          </a:xfrm>
          <a:prstGeom prst="rect">
            <a:avLst/>
          </a:prstGeom>
          <a:noFill/>
          <a:ln/>
        </p:spPr>
        <p:txBody>
          <a:bodyPr wrap="square"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Interpretation</a:t>
            </a:r>
            <a:endParaRPr lang="en-US" sz="1400" dirty="0"/>
          </a:p>
        </p:txBody>
      </p:sp>
      <p:sp>
        <p:nvSpPr>
          <p:cNvPr id="8" name="Text 5"/>
          <p:cNvSpPr/>
          <p:nvPr/>
        </p:nvSpPr>
        <p:spPr>
          <a:xfrm>
            <a:off x="6583680" y="3200400"/>
            <a:ext cx="4846320" cy="2926080"/>
          </a:xfrm>
          <a:prstGeom prst="rect">
            <a:avLst/>
          </a:prstGeom>
          <a:noFill/>
          <a:ln/>
        </p:spPr>
        <p:txBody>
          <a:bodyPr wrap="square" rtlCol="0" anchor="t"/>
          <a:lstStyle/>
          <a:p>
            <a:pPr marL="0" indent="0">
              <a:lnSpc>
                <a:spcPct val="115000"/>
              </a:lnSpc>
              <a:buNone/>
            </a:pPr>
            <a:r>
              <a:rPr lang="en-US" sz="1300" dirty="0">
                <a:solidFill>
                  <a:srgbClr val="1A1A1A"/>
                </a:solidFill>
                <a:latin typeface="Calibri" pitchFamily="34" charset="0"/>
                <a:ea typeface="Calibri" pitchFamily="34" charset="-122"/>
                <a:cs typeface="Calibri" pitchFamily="34" charset="-120"/>
              </a:rPr>
              <a:t>Month-to-month contracts churn at 42.7% vs. 11.3% (one-year) and 2.8% (two-year). The likely root cause is weak contractual commitment: without a fixed-term agreement customers face no barrier to leaving at any time. This is the single strongest churn driver identified in the analysis.</a:t>
            </a:r>
            <a:endParaRPr lang="en-US" sz="1300" dirty="0"/>
          </a:p>
        </p:txBody>
      </p:sp>
      <p:pic>
        <p:nvPicPr>
          <p:cNvPr id="10" name="Image 9">
            <a:extLst>
              <a:ext uri="{FF2B5EF4-FFF2-40B4-BE49-F238E27FC236}">
                <a16:creationId xmlns:a16="http://schemas.microsoft.com/office/drawing/2014/main" id="{242D5885-D026-463E-8481-48EDC0EC5764}"/>
              </a:ext>
            </a:extLst>
          </p:cNvPr>
          <p:cNvPicPr>
            <a:picLocks noChangeAspect="1"/>
          </p:cNvPicPr>
          <p:nvPr/>
        </p:nvPicPr>
        <p:blipFill>
          <a:blip r:embed="rId3"/>
          <a:stretch>
            <a:fillRect/>
          </a:stretch>
        </p:blipFill>
        <p:spPr>
          <a:xfrm>
            <a:off x="63348" y="1382264"/>
            <a:ext cx="6291732" cy="34648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2800" b="1" dirty="0">
                <a:solidFill>
                  <a:srgbClr val="0C223F"/>
                </a:solidFill>
                <a:latin typeface="Cambria" pitchFamily="34" charset="0"/>
                <a:ea typeface="Cambria" pitchFamily="34" charset="-122"/>
                <a:cs typeface="Cambria" pitchFamily="34" charset="-120"/>
              </a:rPr>
              <a:t>Factor 2 — Payment Method</a:t>
            </a:r>
            <a:endParaRPr lang="en-US" sz="2800" dirty="0"/>
          </a:p>
        </p:txBody>
      </p:sp>
      <p:pic>
        <p:nvPicPr>
          <p:cNvPr id="3" name="Image 0" descr="/home/claude/report_assets/payment_bar_chart.png"/>
          <p:cNvPicPr>
            <a:picLocks noChangeAspect="1"/>
          </p:cNvPicPr>
          <p:nvPr/>
        </p:nvPicPr>
        <p:blipFill>
          <a:blip r:embed="rId3"/>
          <a:stretch>
            <a:fillRect/>
          </a:stretch>
        </p:blipFill>
        <p:spPr>
          <a:xfrm>
            <a:off x="548640" y="1234440"/>
            <a:ext cx="5852160" cy="3063240"/>
          </a:xfrm>
          <a:prstGeom prst="rect">
            <a:avLst/>
          </a:prstGeom>
        </p:spPr>
      </p:pic>
      <p:sp>
        <p:nvSpPr>
          <p:cNvPr id="4" name="Shape 1"/>
          <p:cNvSpPr/>
          <p:nvPr/>
        </p:nvSpPr>
        <p:spPr>
          <a:xfrm>
            <a:off x="6766560" y="1234440"/>
            <a:ext cx="4663440" cy="1371600"/>
          </a:xfrm>
          <a:prstGeom prst="roundRect">
            <a:avLst>
              <a:gd name="adj" fmla="val 5333"/>
            </a:avLst>
          </a:prstGeom>
          <a:solidFill>
            <a:srgbClr val="F2F5FA"/>
          </a:solidFill>
          <a:ln w="12700">
            <a:solidFill>
              <a:srgbClr val="F2F5FA"/>
            </a:solidFill>
            <a:prstDash val="solid"/>
          </a:ln>
        </p:spPr>
      </p:sp>
      <p:sp>
        <p:nvSpPr>
          <p:cNvPr id="5" name="Text 2"/>
          <p:cNvSpPr/>
          <p:nvPr/>
        </p:nvSpPr>
        <p:spPr>
          <a:xfrm>
            <a:off x="6995160" y="1325880"/>
            <a:ext cx="4206240" cy="777240"/>
          </a:xfrm>
          <a:prstGeom prst="rect">
            <a:avLst/>
          </a:prstGeom>
          <a:noFill/>
          <a:ln/>
        </p:spPr>
        <p:txBody>
          <a:bodyPr wrap="square" lIns="0" tIns="0" rIns="0" bIns="0" rtlCol="0" anchor="ctr"/>
          <a:lstStyle/>
          <a:p>
            <a:pPr marL="0" indent="0">
              <a:buNone/>
            </a:pPr>
            <a:r>
              <a:rPr lang="en-US" sz="3400" b="1" dirty="0">
                <a:solidFill>
                  <a:srgbClr val="8C1C1C"/>
                </a:solidFill>
                <a:latin typeface="Cambria" pitchFamily="34" charset="0"/>
                <a:ea typeface="Cambria" pitchFamily="34" charset="-122"/>
                <a:cs typeface="Cambria" pitchFamily="34" charset="-120"/>
              </a:rPr>
              <a:t>45.3%</a:t>
            </a:r>
            <a:endParaRPr lang="en-US" sz="3400" dirty="0"/>
          </a:p>
        </p:txBody>
      </p:sp>
      <p:sp>
        <p:nvSpPr>
          <p:cNvPr id="6" name="Text 3"/>
          <p:cNvSpPr/>
          <p:nvPr/>
        </p:nvSpPr>
        <p:spPr>
          <a:xfrm>
            <a:off x="6995160" y="2084832"/>
            <a:ext cx="420624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churn rate for customers paying by electronic check</a:t>
            </a:r>
            <a:endParaRPr lang="en-US" sz="1200" dirty="0"/>
          </a:p>
        </p:txBody>
      </p:sp>
      <p:sp>
        <p:nvSpPr>
          <p:cNvPr id="7" name="Text 4"/>
          <p:cNvSpPr/>
          <p:nvPr/>
        </p:nvSpPr>
        <p:spPr>
          <a:xfrm>
            <a:off x="6766560" y="2834640"/>
            <a:ext cx="4663440" cy="320040"/>
          </a:xfrm>
          <a:prstGeom prst="rect">
            <a:avLst/>
          </a:prstGeom>
          <a:noFill/>
          <a:ln/>
        </p:spPr>
        <p:txBody>
          <a:bodyPr wrap="square"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Interpretation</a:t>
            </a:r>
            <a:endParaRPr lang="en-US" sz="1400" dirty="0"/>
          </a:p>
        </p:txBody>
      </p:sp>
      <p:sp>
        <p:nvSpPr>
          <p:cNvPr id="8" name="Text 5"/>
          <p:cNvSpPr/>
          <p:nvPr/>
        </p:nvSpPr>
        <p:spPr>
          <a:xfrm>
            <a:off x="6766560" y="3200400"/>
            <a:ext cx="4663440" cy="2926080"/>
          </a:xfrm>
          <a:prstGeom prst="rect">
            <a:avLst/>
          </a:prstGeom>
          <a:noFill/>
          <a:ln/>
        </p:spPr>
        <p:txBody>
          <a:bodyPr wrap="square" rtlCol="0" anchor="t"/>
          <a:lstStyle/>
          <a:p>
            <a:pPr marL="0" indent="0">
              <a:lnSpc>
                <a:spcPct val="115000"/>
              </a:lnSpc>
              <a:buNone/>
            </a:pPr>
            <a:r>
              <a:rPr lang="en-US" sz="1300" dirty="0">
                <a:solidFill>
                  <a:srgbClr val="1A1A1A"/>
                </a:solidFill>
                <a:latin typeface="Calibri" pitchFamily="34" charset="0"/>
                <a:ea typeface="Calibri" pitchFamily="34" charset="-122"/>
                <a:cs typeface="Calibri" pitchFamily="34" charset="-120"/>
              </a:rPr>
              <a:t>Electronic check customers churn roughly 3x more than those on automatic payment methods. Manual recurring payments create friction and repeated opportunities to cancel while automatic billing keeps customers subscribed passively, by default.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2800" b="1" dirty="0">
                <a:solidFill>
                  <a:srgbClr val="0C223F"/>
                </a:solidFill>
                <a:latin typeface="Cambria" pitchFamily="34" charset="0"/>
                <a:ea typeface="Cambria" pitchFamily="34" charset="-122"/>
                <a:cs typeface="Cambria" pitchFamily="34" charset="-120"/>
              </a:rPr>
              <a:t>Factor 3 — Internet Service</a:t>
            </a:r>
            <a:endParaRPr lang="en-US" sz="2800" dirty="0"/>
          </a:p>
        </p:txBody>
      </p:sp>
      <p:pic>
        <p:nvPicPr>
          <p:cNvPr id="3" name="Image 0" descr="/home/claude/report_assets/internet_bar_chart.png"/>
          <p:cNvPicPr>
            <a:picLocks noChangeAspect="1"/>
          </p:cNvPicPr>
          <p:nvPr/>
        </p:nvPicPr>
        <p:blipFill>
          <a:blip r:embed="rId3"/>
          <a:stretch>
            <a:fillRect/>
          </a:stretch>
        </p:blipFill>
        <p:spPr>
          <a:xfrm>
            <a:off x="548640" y="1234440"/>
            <a:ext cx="5852160" cy="3246120"/>
          </a:xfrm>
          <a:prstGeom prst="rect">
            <a:avLst/>
          </a:prstGeom>
        </p:spPr>
      </p:pic>
      <p:sp>
        <p:nvSpPr>
          <p:cNvPr id="4" name="Shape 1"/>
          <p:cNvSpPr/>
          <p:nvPr/>
        </p:nvSpPr>
        <p:spPr>
          <a:xfrm>
            <a:off x="6766560" y="1234440"/>
            <a:ext cx="4663440" cy="1371600"/>
          </a:xfrm>
          <a:prstGeom prst="roundRect">
            <a:avLst>
              <a:gd name="adj" fmla="val 5333"/>
            </a:avLst>
          </a:prstGeom>
          <a:solidFill>
            <a:srgbClr val="F2F5FA"/>
          </a:solidFill>
          <a:ln w="12700">
            <a:solidFill>
              <a:srgbClr val="F2F5FA"/>
            </a:solidFill>
            <a:prstDash val="solid"/>
          </a:ln>
        </p:spPr>
      </p:sp>
      <p:sp>
        <p:nvSpPr>
          <p:cNvPr id="5" name="Text 2"/>
          <p:cNvSpPr/>
          <p:nvPr/>
        </p:nvSpPr>
        <p:spPr>
          <a:xfrm>
            <a:off x="6995160" y="1325880"/>
            <a:ext cx="4206240" cy="777240"/>
          </a:xfrm>
          <a:prstGeom prst="rect">
            <a:avLst/>
          </a:prstGeom>
          <a:noFill/>
          <a:ln/>
        </p:spPr>
        <p:txBody>
          <a:bodyPr wrap="square" lIns="0" tIns="0" rIns="0" bIns="0" rtlCol="0" anchor="ctr"/>
          <a:lstStyle/>
          <a:p>
            <a:pPr marL="0" indent="0">
              <a:buNone/>
            </a:pPr>
            <a:r>
              <a:rPr lang="en-US" sz="3400" b="1" dirty="0">
                <a:solidFill>
                  <a:srgbClr val="8C1C1C"/>
                </a:solidFill>
                <a:latin typeface="Cambria" pitchFamily="34" charset="0"/>
                <a:ea typeface="Cambria" pitchFamily="34" charset="-122"/>
                <a:cs typeface="Cambria" pitchFamily="34" charset="-120"/>
              </a:rPr>
              <a:t>41.9%</a:t>
            </a:r>
            <a:endParaRPr lang="en-US" sz="3400" dirty="0"/>
          </a:p>
        </p:txBody>
      </p:sp>
      <p:sp>
        <p:nvSpPr>
          <p:cNvPr id="6" name="Text 3"/>
          <p:cNvSpPr/>
          <p:nvPr/>
        </p:nvSpPr>
        <p:spPr>
          <a:xfrm>
            <a:off x="6995160" y="2084832"/>
            <a:ext cx="420624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churn rate on Fiber optic — the highest of any service tier</a:t>
            </a:r>
            <a:endParaRPr lang="en-US" sz="1200" dirty="0"/>
          </a:p>
        </p:txBody>
      </p:sp>
      <p:sp>
        <p:nvSpPr>
          <p:cNvPr id="7" name="Text 4"/>
          <p:cNvSpPr/>
          <p:nvPr/>
        </p:nvSpPr>
        <p:spPr>
          <a:xfrm>
            <a:off x="6766560" y="2834640"/>
            <a:ext cx="4663440" cy="320040"/>
          </a:xfrm>
          <a:prstGeom prst="rect">
            <a:avLst/>
          </a:prstGeom>
          <a:noFill/>
          <a:ln/>
        </p:spPr>
        <p:txBody>
          <a:bodyPr wrap="square"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Interpretation</a:t>
            </a:r>
            <a:endParaRPr lang="en-US" sz="1400" dirty="0"/>
          </a:p>
        </p:txBody>
      </p:sp>
      <p:sp>
        <p:nvSpPr>
          <p:cNvPr id="8" name="Text 5"/>
          <p:cNvSpPr/>
          <p:nvPr/>
        </p:nvSpPr>
        <p:spPr>
          <a:xfrm>
            <a:off x="6766560" y="3200400"/>
            <a:ext cx="4663440" cy="2926080"/>
          </a:xfrm>
          <a:prstGeom prst="rect">
            <a:avLst/>
          </a:prstGeom>
          <a:noFill/>
          <a:ln/>
        </p:spPr>
        <p:txBody>
          <a:bodyPr wrap="square" rtlCol="0" anchor="t"/>
          <a:lstStyle/>
          <a:p>
            <a:pPr marL="0" indent="0">
              <a:lnSpc>
                <a:spcPct val="115000"/>
              </a:lnSpc>
              <a:buNone/>
            </a:pPr>
            <a:r>
              <a:rPr lang="en-US" sz="1300" dirty="0">
                <a:solidFill>
                  <a:srgbClr val="1A1A1A"/>
                </a:solidFill>
                <a:latin typeface="Calibri" pitchFamily="34" charset="0"/>
                <a:ea typeface="Calibri" pitchFamily="34" charset="-122"/>
                <a:cs typeface="Calibri" pitchFamily="34" charset="-120"/>
              </a:rPr>
              <a:t>Churn rises with service tier: 7.4% (no internet) to 18.9% (DSL) to 41.9% (Fiber optic). This counter-intuitive pattern points to value perception rather than loyalty — Fiber optic, the priciest tier likely faces stronger price sensitivity and higher expectations.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539"/>
        </a:solidFill>
        <a:effectLst/>
      </p:bgPr>
    </p:bg>
    <p:spTree>
      <p:nvGrpSpPr>
        <p:cNvPr id="1" name=""/>
        <p:cNvGrpSpPr/>
        <p:nvPr/>
      </p:nvGrpSpPr>
      <p:grpSpPr>
        <a:xfrm>
          <a:off x="0" y="0"/>
          <a:ext cx="0" cy="0"/>
          <a:chOff x="0" y="0"/>
          <a:chExt cx="0" cy="0"/>
        </a:xfrm>
      </p:grpSpPr>
      <p:sp>
        <p:nvSpPr>
          <p:cNvPr id="2" name="Text 0"/>
          <p:cNvSpPr/>
          <p:nvPr/>
        </p:nvSpPr>
        <p:spPr>
          <a:xfrm>
            <a:off x="731520" y="502920"/>
            <a:ext cx="1069848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Risk Factors Compound</a:t>
            </a:r>
            <a:endParaRPr lang="en-US" sz="3000" dirty="0"/>
          </a:p>
        </p:txBody>
      </p:sp>
      <p:sp>
        <p:nvSpPr>
          <p:cNvPr id="3" name="Text 1"/>
          <p:cNvSpPr/>
          <p:nvPr/>
        </p:nvSpPr>
        <p:spPr>
          <a:xfrm>
            <a:off x="731520" y="1143000"/>
            <a:ext cx="10698480" cy="45720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Customers combining all three risk factors form a small but critical high-risk profile</a:t>
            </a:r>
            <a:endParaRPr lang="en-US" sz="1500" dirty="0"/>
          </a:p>
        </p:txBody>
      </p:sp>
      <p:sp>
        <p:nvSpPr>
          <p:cNvPr id="4" name="Shape 2"/>
          <p:cNvSpPr/>
          <p:nvPr/>
        </p:nvSpPr>
        <p:spPr>
          <a:xfrm>
            <a:off x="731520" y="2103120"/>
            <a:ext cx="3520440" cy="2377440"/>
          </a:xfrm>
          <a:prstGeom prst="roundRect">
            <a:avLst>
              <a:gd name="adj" fmla="val 3077"/>
            </a:avLst>
          </a:prstGeom>
          <a:solidFill>
            <a:srgbClr val="13294B"/>
          </a:solidFill>
          <a:ln w="12700">
            <a:solidFill>
              <a:srgbClr val="13294B"/>
            </a:solidFill>
            <a:prstDash val="solid"/>
          </a:ln>
        </p:spPr>
      </p:sp>
      <p:sp>
        <p:nvSpPr>
          <p:cNvPr id="5" name="Text 3"/>
          <p:cNvSpPr/>
          <p:nvPr/>
        </p:nvSpPr>
        <p:spPr>
          <a:xfrm>
            <a:off x="1005840" y="2377440"/>
            <a:ext cx="2971800" cy="1005840"/>
          </a:xfrm>
          <a:prstGeom prst="rect">
            <a:avLst/>
          </a:prstGeom>
          <a:noFill/>
          <a:ln/>
        </p:spPr>
        <p:txBody>
          <a:bodyPr wrap="square" lIns="0" tIns="0" rIns="0" bIns="0" rtlCol="0" anchor="ctr"/>
          <a:lstStyle/>
          <a:p>
            <a:pPr marL="0" indent="0">
              <a:buNone/>
            </a:pPr>
            <a:r>
              <a:rPr lang="en-US" sz="4400" b="1" dirty="0">
                <a:solidFill>
                  <a:srgbClr val="CADCFC"/>
                </a:solidFill>
                <a:latin typeface="Cambria" pitchFamily="34" charset="0"/>
                <a:ea typeface="Cambria" pitchFamily="34" charset="-122"/>
                <a:cs typeface="Cambria" pitchFamily="34" charset="-120"/>
              </a:rPr>
              <a:t>18.6%</a:t>
            </a:r>
            <a:endParaRPr lang="en-US" sz="4400" dirty="0"/>
          </a:p>
        </p:txBody>
      </p:sp>
      <p:sp>
        <p:nvSpPr>
          <p:cNvPr id="6" name="Text 4"/>
          <p:cNvSpPr/>
          <p:nvPr/>
        </p:nvSpPr>
        <p:spPr>
          <a:xfrm>
            <a:off x="1005840" y="3429000"/>
            <a:ext cx="2971800" cy="914400"/>
          </a:xfrm>
          <a:prstGeom prst="rect">
            <a:avLst/>
          </a:prstGeom>
          <a:noFill/>
          <a:ln/>
        </p:spPr>
        <p:txBody>
          <a:bodyPr wrap="square" lIns="0" tIns="0" rIns="0" bIns="0" rtlCol="0" anchor="t"/>
          <a:lstStyle/>
          <a:p>
            <a:pPr marL="0" indent="0">
              <a:buNone/>
            </a:pPr>
            <a:r>
              <a:rPr lang="en-US" sz="1300" dirty="0">
                <a:solidFill>
                  <a:srgbClr val="C9D6EA"/>
                </a:solidFill>
                <a:latin typeface="Calibri" pitchFamily="34" charset="0"/>
                <a:ea typeface="Calibri" pitchFamily="34" charset="-122"/>
                <a:cs typeface="Calibri" pitchFamily="34" charset="-120"/>
              </a:rPr>
              <a:t>of customers combine Month-to-month + Electronic check + Fiber optic</a:t>
            </a:r>
            <a:endParaRPr lang="en-US" sz="1300" dirty="0"/>
          </a:p>
        </p:txBody>
      </p:sp>
      <p:sp>
        <p:nvSpPr>
          <p:cNvPr id="7" name="Shape 5"/>
          <p:cNvSpPr/>
          <p:nvPr/>
        </p:nvSpPr>
        <p:spPr>
          <a:xfrm>
            <a:off x="4617720" y="2103120"/>
            <a:ext cx="3520440" cy="2377440"/>
          </a:xfrm>
          <a:prstGeom prst="roundRect">
            <a:avLst>
              <a:gd name="adj" fmla="val 3077"/>
            </a:avLst>
          </a:prstGeom>
          <a:solidFill>
            <a:srgbClr val="13294B"/>
          </a:solidFill>
          <a:ln w="12700">
            <a:solidFill>
              <a:srgbClr val="13294B"/>
            </a:solidFill>
            <a:prstDash val="solid"/>
          </a:ln>
        </p:spPr>
      </p:sp>
      <p:sp>
        <p:nvSpPr>
          <p:cNvPr id="8" name="Text 6"/>
          <p:cNvSpPr/>
          <p:nvPr/>
        </p:nvSpPr>
        <p:spPr>
          <a:xfrm>
            <a:off x="4892040" y="2377440"/>
            <a:ext cx="2971800" cy="1005840"/>
          </a:xfrm>
          <a:prstGeom prst="rect">
            <a:avLst/>
          </a:prstGeom>
          <a:noFill/>
          <a:ln/>
        </p:spPr>
        <p:txBody>
          <a:bodyPr wrap="square" lIns="0" tIns="0" rIns="0" bIns="0" rtlCol="0" anchor="ctr"/>
          <a:lstStyle/>
          <a:p>
            <a:pPr marL="0" indent="0">
              <a:buNone/>
            </a:pPr>
            <a:r>
              <a:rPr lang="en-US" sz="4400" b="1" dirty="0">
                <a:solidFill>
                  <a:srgbClr val="CADCFC"/>
                </a:solidFill>
                <a:latin typeface="Cambria" pitchFamily="34" charset="0"/>
                <a:ea typeface="Cambria" pitchFamily="34" charset="-122"/>
                <a:cs typeface="Cambria" pitchFamily="34" charset="-120"/>
              </a:rPr>
              <a:t>60.4%</a:t>
            </a:r>
            <a:endParaRPr lang="en-US" sz="4400" dirty="0"/>
          </a:p>
        </p:txBody>
      </p:sp>
      <p:sp>
        <p:nvSpPr>
          <p:cNvPr id="9" name="Text 7"/>
          <p:cNvSpPr/>
          <p:nvPr/>
        </p:nvSpPr>
        <p:spPr>
          <a:xfrm>
            <a:off x="4892040" y="3429000"/>
            <a:ext cx="2971800" cy="914400"/>
          </a:xfrm>
          <a:prstGeom prst="rect">
            <a:avLst/>
          </a:prstGeom>
          <a:noFill/>
          <a:ln/>
        </p:spPr>
        <p:txBody>
          <a:bodyPr wrap="square" lIns="0" tIns="0" rIns="0" bIns="0" rtlCol="0" anchor="t"/>
          <a:lstStyle/>
          <a:p>
            <a:pPr marL="0" indent="0">
              <a:buNone/>
            </a:pPr>
            <a:r>
              <a:rPr lang="en-US" sz="1300" dirty="0">
                <a:solidFill>
                  <a:srgbClr val="C9D6EA"/>
                </a:solidFill>
                <a:latin typeface="Calibri" pitchFamily="34" charset="0"/>
                <a:ea typeface="Calibri" pitchFamily="34" charset="-122"/>
                <a:cs typeface="Calibri" pitchFamily="34" charset="-120"/>
              </a:rPr>
              <a:t>churn rate within this combined risk profile</a:t>
            </a:r>
            <a:endParaRPr lang="en-US" sz="1300" dirty="0"/>
          </a:p>
        </p:txBody>
      </p:sp>
      <p:sp>
        <p:nvSpPr>
          <p:cNvPr id="10" name="Shape 8"/>
          <p:cNvSpPr/>
          <p:nvPr/>
        </p:nvSpPr>
        <p:spPr>
          <a:xfrm>
            <a:off x="8503920" y="2103120"/>
            <a:ext cx="3520440" cy="2377440"/>
          </a:xfrm>
          <a:prstGeom prst="roundRect">
            <a:avLst>
              <a:gd name="adj" fmla="val 3077"/>
            </a:avLst>
          </a:prstGeom>
          <a:solidFill>
            <a:srgbClr val="13294B"/>
          </a:solidFill>
          <a:ln w="12700">
            <a:solidFill>
              <a:srgbClr val="13294B"/>
            </a:solidFill>
            <a:prstDash val="solid"/>
          </a:ln>
        </p:spPr>
      </p:sp>
      <p:sp>
        <p:nvSpPr>
          <p:cNvPr id="11" name="Text 9"/>
          <p:cNvSpPr/>
          <p:nvPr/>
        </p:nvSpPr>
        <p:spPr>
          <a:xfrm>
            <a:off x="8778240" y="2377440"/>
            <a:ext cx="2971800" cy="1005840"/>
          </a:xfrm>
          <a:prstGeom prst="rect">
            <a:avLst/>
          </a:prstGeom>
          <a:noFill/>
          <a:ln/>
        </p:spPr>
        <p:txBody>
          <a:bodyPr wrap="square" lIns="0" tIns="0" rIns="0" bIns="0" rtlCol="0" anchor="ctr"/>
          <a:lstStyle/>
          <a:p>
            <a:pPr marL="0" indent="0">
              <a:buNone/>
            </a:pPr>
            <a:r>
              <a:rPr lang="en-US" sz="4400" b="1" dirty="0">
                <a:solidFill>
                  <a:srgbClr val="CADCFC"/>
                </a:solidFill>
                <a:latin typeface="Cambria" pitchFamily="34" charset="0"/>
                <a:ea typeface="Cambria" pitchFamily="34" charset="-122"/>
                <a:cs typeface="Cambria" pitchFamily="34" charset="-120"/>
              </a:rPr>
              <a:t>2.3x</a:t>
            </a:r>
            <a:endParaRPr lang="en-US" sz="4400" dirty="0"/>
          </a:p>
        </p:txBody>
      </p:sp>
      <p:sp>
        <p:nvSpPr>
          <p:cNvPr id="12" name="Text 10"/>
          <p:cNvSpPr/>
          <p:nvPr/>
        </p:nvSpPr>
        <p:spPr>
          <a:xfrm>
            <a:off x="8778240" y="3429000"/>
            <a:ext cx="2971800" cy="914400"/>
          </a:xfrm>
          <a:prstGeom prst="rect">
            <a:avLst/>
          </a:prstGeom>
          <a:noFill/>
          <a:ln/>
        </p:spPr>
        <p:txBody>
          <a:bodyPr wrap="square" lIns="0" tIns="0" rIns="0" bIns="0" rtlCol="0" anchor="t"/>
          <a:lstStyle/>
          <a:p>
            <a:pPr marL="0" indent="0">
              <a:buNone/>
            </a:pPr>
            <a:r>
              <a:rPr lang="en-US" sz="1300" dirty="0">
                <a:solidFill>
                  <a:srgbClr val="C9D6EA"/>
                </a:solidFill>
                <a:latin typeface="Calibri" pitchFamily="34" charset="0"/>
                <a:ea typeface="Calibri" pitchFamily="34" charset="-122"/>
                <a:cs typeface="Calibri" pitchFamily="34" charset="-120"/>
              </a:rPr>
              <a:t>higher than the overall company churn rate (26.5%)</a:t>
            </a:r>
            <a:endParaRPr lang="en-US" sz="1300" dirty="0"/>
          </a:p>
        </p:txBody>
      </p:sp>
      <p:sp>
        <p:nvSpPr>
          <p:cNvPr id="13" name="Text 11"/>
          <p:cNvSpPr/>
          <p:nvPr/>
        </p:nvSpPr>
        <p:spPr>
          <a:xfrm>
            <a:off x="731520" y="4846320"/>
            <a:ext cx="10698480" cy="731520"/>
          </a:xfrm>
          <a:prstGeom prst="rect">
            <a:avLst/>
          </a:prstGeom>
          <a:noFill/>
          <a:ln/>
        </p:spPr>
        <p:txBody>
          <a:bodyPr wrap="square" rtlCol="0" anchor="t"/>
          <a:lstStyle/>
          <a:p>
            <a:pPr marL="0" indent="0">
              <a:buNone/>
            </a:pPr>
            <a:r>
              <a:rPr lang="en-US" sz="1400" i="1" dirty="0">
                <a:solidFill>
                  <a:srgbClr val="FFFFFF"/>
                </a:solidFill>
                <a:latin typeface="Calibri" pitchFamily="34" charset="0"/>
                <a:ea typeface="Calibri" pitchFamily="34" charset="-122"/>
                <a:cs typeface="Calibri" pitchFamily="34" charset="-120"/>
              </a:rPr>
              <a:t>This is the most actionable finding in the analysis: it defines a precise, targetable customer profile rather than a vague, company-wide risk.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0C223F"/>
                </a:solidFill>
                <a:latin typeface="Cambria" pitchFamily="34" charset="0"/>
                <a:ea typeface="Cambria" pitchFamily="34" charset="-122"/>
                <a:cs typeface="Cambria" pitchFamily="34" charset="-120"/>
              </a:rPr>
              <a:t>Key Business Insights</a:t>
            </a:r>
            <a:endParaRPr lang="en-US" sz="3000" dirty="0"/>
          </a:p>
        </p:txBody>
      </p:sp>
      <p:sp>
        <p:nvSpPr>
          <p:cNvPr id="3" name="Shape 1"/>
          <p:cNvSpPr/>
          <p:nvPr/>
        </p:nvSpPr>
        <p:spPr>
          <a:xfrm>
            <a:off x="548640" y="1371600"/>
            <a:ext cx="457200" cy="457200"/>
          </a:xfrm>
          <a:prstGeom prst="roundRect">
            <a:avLst>
              <a:gd name="adj" fmla="val 20000"/>
            </a:avLst>
          </a:prstGeom>
          <a:solidFill>
            <a:srgbClr val="0C223F"/>
          </a:solidFill>
          <a:ln w="12700">
            <a:solidFill>
              <a:srgbClr val="0C223F"/>
            </a:solidFill>
            <a:prstDash val="solid"/>
          </a:ln>
        </p:spPr>
      </p:sp>
      <p:sp>
        <p:nvSpPr>
          <p:cNvPr id="4" name="Text 2"/>
          <p:cNvSpPr/>
          <p:nvPr/>
        </p:nvSpPr>
        <p:spPr>
          <a:xfrm>
            <a:off x="548640" y="13716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1234440" y="1325880"/>
            <a:ext cx="9875520"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Contract type is the dominant churn driver (88.6% of churners are month-to-month).</a:t>
            </a:r>
            <a:endParaRPr lang="en-US" sz="1400" dirty="0"/>
          </a:p>
        </p:txBody>
      </p:sp>
      <p:sp>
        <p:nvSpPr>
          <p:cNvPr id="6" name="Shape 4"/>
          <p:cNvSpPr/>
          <p:nvPr/>
        </p:nvSpPr>
        <p:spPr>
          <a:xfrm>
            <a:off x="548640" y="2240280"/>
            <a:ext cx="457200" cy="457200"/>
          </a:xfrm>
          <a:prstGeom prst="roundRect">
            <a:avLst>
              <a:gd name="adj" fmla="val 20000"/>
            </a:avLst>
          </a:prstGeom>
          <a:solidFill>
            <a:srgbClr val="0C223F"/>
          </a:solidFill>
          <a:ln w="12700">
            <a:solidFill>
              <a:srgbClr val="0C223F"/>
            </a:solidFill>
            <a:prstDash val="solid"/>
          </a:ln>
        </p:spPr>
      </p:sp>
      <p:sp>
        <p:nvSpPr>
          <p:cNvPr id="7" name="Text 5"/>
          <p:cNvSpPr/>
          <p:nvPr/>
        </p:nvSpPr>
        <p:spPr>
          <a:xfrm>
            <a:off x="548640" y="22402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6"/>
          <p:cNvSpPr/>
          <p:nvPr/>
        </p:nvSpPr>
        <p:spPr>
          <a:xfrm>
            <a:off x="1234440" y="2194560"/>
            <a:ext cx="9875520"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Payment method is a strong secondary factor (57.3% of churners pay by electronic check).</a:t>
            </a:r>
            <a:endParaRPr lang="en-US" sz="1400" dirty="0"/>
          </a:p>
        </p:txBody>
      </p:sp>
      <p:sp>
        <p:nvSpPr>
          <p:cNvPr id="9" name="Shape 7"/>
          <p:cNvSpPr/>
          <p:nvPr/>
        </p:nvSpPr>
        <p:spPr>
          <a:xfrm>
            <a:off x="548640" y="3108960"/>
            <a:ext cx="457200" cy="457200"/>
          </a:xfrm>
          <a:prstGeom prst="roundRect">
            <a:avLst>
              <a:gd name="adj" fmla="val 20000"/>
            </a:avLst>
          </a:prstGeom>
          <a:solidFill>
            <a:srgbClr val="0C223F"/>
          </a:solidFill>
          <a:ln w="12700">
            <a:solidFill>
              <a:srgbClr val="0C223F"/>
            </a:solidFill>
            <a:prstDash val="solid"/>
          </a:ln>
        </p:spPr>
      </p:sp>
      <p:sp>
        <p:nvSpPr>
          <p:cNvPr id="10" name="Text 8"/>
          <p:cNvSpPr/>
          <p:nvPr/>
        </p:nvSpPr>
        <p:spPr>
          <a:xfrm>
            <a:off x="54864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9"/>
          <p:cNvSpPr/>
          <p:nvPr/>
        </p:nvSpPr>
        <p:spPr>
          <a:xfrm>
            <a:off x="1234440" y="3063240"/>
            <a:ext cx="9875520"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Fiber optic is both the largest (44%) and most fragile segment (41.9% churn).</a:t>
            </a:r>
            <a:endParaRPr lang="en-US" sz="1400" dirty="0"/>
          </a:p>
        </p:txBody>
      </p:sp>
      <p:sp>
        <p:nvSpPr>
          <p:cNvPr id="12" name="Shape 10"/>
          <p:cNvSpPr/>
          <p:nvPr/>
        </p:nvSpPr>
        <p:spPr>
          <a:xfrm>
            <a:off x="548640" y="3977640"/>
            <a:ext cx="457200" cy="457200"/>
          </a:xfrm>
          <a:prstGeom prst="roundRect">
            <a:avLst>
              <a:gd name="adj" fmla="val 20000"/>
            </a:avLst>
          </a:prstGeom>
          <a:solidFill>
            <a:srgbClr val="0C223F"/>
          </a:solidFill>
          <a:ln w="12700">
            <a:solidFill>
              <a:srgbClr val="0C223F"/>
            </a:solidFill>
            <a:prstDash val="solid"/>
          </a:ln>
        </p:spPr>
      </p:sp>
      <p:sp>
        <p:nvSpPr>
          <p:cNvPr id="13" name="Text 11"/>
          <p:cNvSpPr/>
          <p:nvPr/>
        </p:nvSpPr>
        <p:spPr>
          <a:xfrm>
            <a:off x="548640" y="3977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4" name="Text 12"/>
          <p:cNvSpPr/>
          <p:nvPr/>
        </p:nvSpPr>
        <p:spPr>
          <a:xfrm>
            <a:off x="1234440" y="3931920"/>
            <a:ext cx="9875520"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Risk factors compound — the combined high-risk profile churns at 60.4%.</a:t>
            </a:r>
            <a:endParaRPr lang="en-US" sz="1400" dirty="0"/>
          </a:p>
        </p:txBody>
      </p:sp>
      <p:sp>
        <p:nvSpPr>
          <p:cNvPr id="15" name="Shape 13"/>
          <p:cNvSpPr/>
          <p:nvPr/>
        </p:nvSpPr>
        <p:spPr>
          <a:xfrm>
            <a:off x="548640" y="4846320"/>
            <a:ext cx="457200" cy="457200"/>
          </a:xfrm>
          <a:prstGeom prst="roundRect">
            <a:avLst>
              <a:gd name="adj" fmla="val 20000"/>
            </a:avLst>
          </a:prstGeom>
          <a:solidFill>
            <a:srgbClr val="0C223F"/>
          </a:solidFill>
          <a:ln w="12700">
            <a:solidFill>
              <a:srgbClr val="0C223F"/>
            </a:solidFill>
            <a:prstDash val="solid"/>
          </a:ln>
        </p:spPr>
      </p:sp>
      <p:sp>
        <p:nvSpPr>
          <p:cNvPr id="16" name="Text 14"/>
          <p:cNvSpPr/>
          <p:nvPr/>
        </p:nvSpPr>
        <p:spPr>
          <a:xfrm>
            <a:off x="548640" y="48463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7" name="Text 15"/>
          <p:cNvSpPr/>
          <p:nvPr/>
        </p:nvSpPr>
        <p:spPr>
          <a:xfrm>
            <a:off x="1234440" y="4800600"/>
            <a:ext cx="9875520" cy="5943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Churn concentrates early: median tenure of 10 months for churners vs. 38 for loyal customers.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0C223F"/>
                </a:solidFill>
                <a:latin typeface="Cambria" pitchFamily="34" charset="0"/>
                <a:ea typeface="Cambria" pitchFamily="34" charset="-122"/>
                <a:cs typeface="Cambria" pitchFamily="34" charset="-120"/>
              </a:rPr>
              <a:t>Recommendations</a:t>
            </a:r>
            <a:endParaRPr lang="en-US" sz="3000" dirty="0"/>
          </a:p>
        </p:txBody>
      </p:sp>
      <p:sp>
        <p:nvSpPr>
          <p:cNvPr id="3" name="Shape 1"/>
          <p:cNvSpPr/>
          <p:nvPr/>
        </p:nvSpPr>
        <p:spPr>
          <a:xfrm>
            <a:off x="548640" y="1188720"/>
            <a:ext cx="5349240" cy="1417320"/>
          </a:xfrm>
          <a:prstGeom prst="roundRect">
            <a:avLst>
              <a:gd name="adj" fmla="val 5161"/>
            </a:avLst>
          </a:prstGeom>
          <a:solidFill>
            <a:srgbClr val="F2F5FA"/>
          </a:solidFill>
          <a:ln w="12700">
            <a:solidFill>
              <a:srgbClr val="F2F5FA"/>
            </a:solidFill>
            <a:prstDash val="solid"/>
          </a:ln>
        </p:spPr>
      </p:sp>
      <p:sp>
        <p:nvSpPr>
          <p:cNvPr id="4" name="Text 2"/>
          <p:cNvSpPr/>
          <p:nvPr/>
        </p:nvSpPr>
        <p:spPr>
          <a:xfrm>
            <a:off x="777240" y="1325880"/>
            <a:ext cx="548640" cy="411480"/>
          </a:xfrm>
          <a:prstGeom prst="rect">
            <a:avLst/>
          </a:prstGeom>
          <a:noFill/>
          <a:ln/>
        </p:spPr>
        <p:txBody>
          <a:bodyPr wrap="square" lIns="0" tIns="0" rIns="0" bIns="0" rtlCol="0" anchor="ctr"/>
          <a:lstStyle/>
          <a:p>
            <a:pPr marL="0" indent="0">
              <a:buNone/>
            </a:pPr>
            <a:r>
              <a:rPr lang="en-US" sz="2000" b="1" dirty="0">
                <a:solidFill>
                  <a:srgbClr val="0C223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777240" y="1719072"/>
            <a:ext cx="4892040" cy="320040"/>
          </a:xfrm>
          <a:prstGeom prst="rect">
            <a:avLst/>
          </a:prstGeom>
          <a:noFill/>
          <a:ln/>
        </p:spPr>
        <p:txBody>
          <a:bodyPr wrap="square" lIns="0" tIns="0" rIns="0" bIns="0"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Convert contracts</a:t>
            </a:r>
            <a:endParaRPr lang="en-US" sz="1400" dirty="0"/>
          </a:p>
        </p:txBody>
      </p:sp>
      <p:sp>
        <p:nvSpPr>
          <p:cNvPr id="6" name="Text 4"/>
          <p:cNvSpPr/>
          <p:nvPr/>
        </p:nvSpPr>
        <p:spPr>
          <a:xfrm>
            <a:off x="777240" y="2029968"/>
            <a:ext cx="4892040"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Incentivize month-to-month customers to switch to 1- or 2-year contracts, prioritizing the first 12 months.</a:t>
            </a:r>
            <a:endParaRPr lang="en-US" sz="1100" dirty="0"/>
          </a:p>
        </p:txBody>
      </p:sp>
      <p:sp>
        <p:nvSpPr>
          <p:cNvPr id="7" name="Shape 5"/>
          <p:cNvSpPr/>
          <p:nvPr/>
        </p:nvSpPr>
        <p:spPr>
          <a:xfrm>
            <a:off x="6355080" y="1188720"/>
            <a:ext cx="5349240" cy="1417320"/>
          </a:xfrm>
          <a:prstGeom prst="roundRect">
            <a:avLst>
              <a:gd name="adj" fmla="val 5161"/>
            </a:avLst>
          </a:prstGeom>
          <a:solidFill>
            <a:srgbClr val="F2F5FA"/>
          </a:solidFill>
          <a:ln w="12700">
            <a:solidFill>
              <a:srgbClr val="F2F5FA"/>
            </a:solidFill>
            <a:prstDash val="solid"/>
          </a:ln>
        </p:spPr>
      </p:sp>
      <p:sp>
        <p:nvSpPr>
          <p:cNvPr id="8" name="Text 6"/>
          <p:cNvSpPr/>
          <p:nvPr/>
        </p:nvSpPr>
        <p:spPr>
          <a:xfrm>
            <a:off x="6583680" y="1325880"/>
            <a:ext cx="548640" cy="411480"/>
          </a:xfrm>
          <a:prstGeom prst="rect">
            <a:avLst/>
          </a:prstGeom>
          <a:noFill/>
          <a:ln/>
        </p:spPr>
        <p:txBody>
          <a:bodyPr wrap="square" lIns="0" tIns="0" rIns="0" bIns="0" rtlCol="0" anchor="ctr"/>
          <a:lstStyle/>
          <a:p>
            <a:pPr marL="0" indent="0">
              <a:buNone/>
            </a:pPr>
            <a:r>
              <a:rPr lang="en-US" sz="2000" b="1" dirty="0">
                <a:solidFill>
                  <a:srgbClr val="0C223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6583680" y="1719072"/>
            <a:ext cx="4892040" cy="320040"/>
          </a:xfrm>
          <a:prstGeom prst="rect">
            <a:avLst/>
          </a:prstGeom>
          <a:noFill/>
          <a:ln/>
        </p:spPr>
        <p:txBody>
          <a:bodyPr wrap="square" lIns="0" tIns="0" rIns="0" bIns="0"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Automate payments</a:t>
            </a:r>
            <a:endParaRPr lang="en-US" sz="1400" dirty="0"/>
          </a:p>
        </p:txBody>
      </p:sp>
      <p:sp>
        <p:nvSpPr>
          <p:cNvPr id="10" name="Text 8"/>
          <p:cNvSpPr/>
          <p:nvPr/>
        </p:nvSpPr>
        <p:spPr>
          <a:xfrm>
            <a:off x="6583680" y="2029968"/>
            <a:ext cx="4892040"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Offer a discount or incentive for customers moving from electronic check to automatic payment.</a:t>
            </a:r>
            <a:endParaRPr lang="en-US" sz="1100" dirty="0"/>
          </a:p>
        </p:txBody>
      </p:sp>
      <p:sp>
        <p:nvSpPr>
          <p:cNvPr id="11" name="Shape 9"/>
          <p:cNvSpPr/>
          <p:nvPr/>
        </p:nvSpPr>
        <p:spPr>
          <a:xfrm>
            <a:off x="548640" y="2880360"/>
            <a:ext cx="5349240" cy="1417320"/>
          </a:xfrm>
          <a:prstGeom prst="roundRect">
            <a:avLst>
              <a:gd name="adj" fmla="val 5161"/>
            </a:avLst>
          </a:prstGeom>
          <a:solidFill>
            <a:srgbClr val="F2F5FA"/>
          </a:solidFill>
          <a:ln w="12700">
            <a:solidFill>
              <a:srgbClr val="F2F5FA"/>
            </a:solidFill>
            <a:prstDash val="solid"/>
          </a:ln>
        </p:spPr>
      </p:sp>
      <p:sp>
        <p:nvSpPr>
          <p:cNvPr id="12" name="Text 10"/>
          <p:cNvSpPr/>
          <p:nvPr/>
        </p:nvSpPr>
        <p:spPr>
          <a:xfrm>
            <a:off x="777240" y="3017520"/>
            <a:ext cx="548640" cy="411480"/>
          </a:xfrm>
          <a:prstGeom prst="rect">
            <a:avLst/>
          </a:prstGeom>
          <a:noFill/>
          <a:ln/>
        </p:spPr>
        <p:txBody>
          <a:bodyPr wrap="square" lIns="0" tIns="0" rIns="0" bIns="0" rtlCol="0" anchor="ctr"/>
          <a:lstStyle/>
          <a:p>
            <a:pPr marL="0" indent="0">
              <a:buNone/>
            </a:pPr>
            <a:r>
              <a:rPr lang="en-US" sz="2000" b="1" dirty="0">
                <a:solidFill>
                  <a:srgbClr val="0C223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777240" y="3410712"/>
            <a:ext cx="4892040" cy="320040"/>
          </a:xfrm>
          <a:prstGeom prst="rect">
            <a:avLst/>
          </a:prstGeom>
          <a:noFill/>
          <a:ln/>
        </p:spPr>
        <p:txBody>
          <a:bodyPr wrap="square" lIns="0" tIns="0" rIns="0" bIns="0"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Investigate Fiber optic</a:t>
            </a:r>
            <a:endParaRPr lang="en-US" sz="1400" dirty="0"/>
          </a:p>
        </p:txBody>
      </p:sp>
      <p:sp>
        <p:nvSpPr>
          <p:cNvPr id="14" name="Text 12"/>
          <p:cNvSpPr/>
          <p:nvPr/>
        </p:nvSpPr>
        <p:spPr>
          <a:xfrm>
            <a:off x="777240" y="3721608"/>
            <a:ext cx="4892040"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Run a targeted satisfaction study to identify price, quality, or competitive drivers of churn.</a:t>
            </a:r>
            <a:endParaRPr lang="en-US" sz="1100" dirty="0"/>
          </a:p>
        </p:txBody>
      </p:sp>
      <p:sp>
        <p:nvSpPr>
          <p:cNvPr id="15" name="Shape 13"/>
          <p:cNvSpPr/>
          <p:nvPr/>
        </p:nvSpPr>
        <p:spPr>
          <a:xfrm>
            <a:off x="6355080" y="2880360"/>
            <a:ext cx="5349240" cy="1417320"/>
          </a:xfrm>
          <a:prstGeom prst="roundRect">
            <a:avLst>
              <a:gd name="adj" fmla="val 5161"/>
            </a:avLst>
          </a:prstGeom>
          <a:solidFill>
            <a:srgbClr val="F2F5FA"/>
          </a:solidFill>
          <a:ln w="12700">
            <a:solidFill>
              <a:srgbClr val="F2F5FA"/>
            </a:solidFill>
            <a:prstDash val="solid"/>
          </a:ln>
        </p:spPr>
      </p:sp>
      <p:sp>
        <p:nvSpPr>
          <p:cNvPr id="16" name="Text 14"/>
          <p:cNvSpPr/>
          <p:nvPr/>
        </p:nvSpPr>
        <p:spPr>
          <a:xfrm>
            <a:off x="6583680" y="3017520"/>
            <a:ext cx="548640" cy="411480"/>
          </a:xfrm>
          <a:prstGeom prst="rect">
            <a:avLst/>
          </a:prstGeom>
          <a:noFill/>
          <a:ln/>
        </p:spPr>
        <p:txBody>
          <a:bodyPr wrap="square" lIns="0" tIns="0" rIns="0" bIns="0" rtlCol="0" anchor="ctr"/>
          <a:lstStyle/>
          <a:p>
            <a:pPr marL="0" indent="0">
              <a:buNone/>
            </a:pPr>
            <a:r>
              <a:rPr lang="en-US" sz="2000" b="1" dirty="0">
                <a:solidFill>
                  <a:srgbClr val="0C223F"/>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6583680" y="3410712"/>
            <a:ext cx="4892040" cy="320040"/>
          </a:xfrm>
          <a:prstGeom prst="rect">
            <a:avLst/>
          </a:prstGeom>
          <a:noFill/>
          <a:ln/>
        </p:spPr>
        <p:txBody>
          <a:bodyPr wrap="square" lIns="0" tIns="0" rIns="0" bIns="0"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Target the high-risk profile</a:t>
            </a:r>
            <a:endParaRPr lang="en-US" sz="1400" dirty="0"/>
          </a:p>
        </p:txBody>
      </p:sp>
      <p:sp>
        <p:nvSpPr>
          <p:cNvPr id="18" name="Text 16"/>
          <p:cNvSpPr/>
          <p:nvPr/>
        </p:nvSpPr>
        <p:spPr>
          <a:xfrm>
            <a:off x="6583680" y="3721608"/>
            <a:ext cx="4892040"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Build a bundled retention offer for customers combining all three risk factors.</a:t>
            </a:r>
            <a:endParaRPr lang="en-US" sz="1100" dirty="0"/>
          </a:p>
        </p:txBody>
      </p:sp>
      <p:sp>
        <p:nvSpPr>
          <p:cNvPr id="19" name="Shape 17"/>
          <p:cNvSpPr/>
          <p:nvPr/>
        </p:nvSpPr>
        <p:spPr>
          <a:xfrm>
            <a:off x="548640" y="4572000"/>
            <a:ext cx="5349240" cy="1417320"/>
          </a:xfrm>
          <a:prstGeom prst="roundRect">
            <a:avLst>
              <a:gd name="adj" fmla="val 5161"/>
            </a:avLst>
          </a:prstGeom>
          <a:solidFill>
            <a:srgbClr val="F2F5FA"/>
          </a:solidFill>
          <a:ln w="12700">
            <a:solidFill>
              <a:srgbClr val="F2F5FA"/>
            </a:solidFill>
            <a:prstDash val="solid"/>
          </a:ln>
        </p:spPr>
      </p:sp>
      <p:sp>
        <p:nvSpPr>
          <p:cNvPr id="20" name="Text 18"/>
          <p:cNvSpPr/>
          <p:nvPr/>
        </p:nvSpPr>
        <p:spPr>
          <a:xfrm>
            <a:off x="777240" y="4709160"/>
            <a:ext cx="548640" cy="411480"/>
          </a:xfrm>
          <a:prstGeom prst="rect">
            <a:avLst/>
          </a:prstGeom>
          <a:noFill/>
          <a:ln/>
        </p:spPr>
        <p:txBody>
          <a:bodyPr wrap="square" lIns="0" tIns="0" rIns="0" bIns="0" rtlCol="0" anchor="ctr"/>
          <a:lstStyle/>
          <a:p>
            <a:pPr marL="0" indent="0">
              <a:buNone/>
            </a:pPr>
            <a:r>
              <a:rPr lang="en-US" sz="2000" b="1" dirty="0">
                <a:solidFill>
                  <a:srgbClr val="0C223F"/>
                </a:solidFill>
                <a:latin typeface="Cambria" pitchFamily="34" charset="0"/>
                <a:ea typeface="Cambria" pitchFamily="34" charset="-122"/>
                <a:cs typeface="Cambria" pitchFamily="34" charset="-120"/>
              </a:rPr>
              <a:t>5</a:t>
            </a:r>
            <a:endParaRPr lang="en-US" sz="2000" dirty="0"/>
          </a:p>
        </p:txBody>
      </p:sp>
      <p:sp>
        <p:nvSpPr>
          <p:cNvPr id="21" name="Text 19"/>
          <p:cNvSpPr/>
          <p:nvPr/>
        </p:nvSpPr>
        <p:spPr>
          <a:xfrm>
            <a:off x="777240" y="5102352"/>
            <a:ext cx="4892040" cy="320040"/>
          </a:xfrm>
          <a:prstGeom prst="rect">
            <a:avLst/>
          </a:prstGeom>
          <a:noFill/>
          <a:ln/>
        </p:spPr>
        <p:txBody>
          <a:bodyPr wrap="square" lIns="0" tIns="0" rIns="0" bIns="0" rtlCol="0" anchor="ctr"/>
          <a:lstStyle/>
          <a:p>
            <a:pPr marL="0" indent="0">
              <a:buNone/>
            </a:pPr>
            <a:r>
              <a:rPr lang="en-US" sz="1400" b="1" dirty="0">
                <a:solidFill>
                  <a:srgbClr val="0C223F"/>
                </a:solidFill>
                <a:latin typeface="Calibri" pitchFamily="34" charset="0"/>
                <a:ea typeface="Calibri" pitchFamily="34" charset="-122"/>
                <a:cs typeface="Calibri" pitchFamily="34" charset="-120"/>
              </a:rPr>
              <a:t>Strengthen onboarding</a:t>
            </a:r>
            <a:endParaRPr lang="en-US" sz="1400" dirty="0"/>
          </a:p>
        </p:txBody>
      </p:sp>
      <p:sp>
        <p:nvSpPr>
          <p:cNvPr id="22" name="Text 20"/>
          <p:cNvSpPr/>
          <p:nvPr/>
        </p:nvSpPr>
        <p:spPr>
          <a:xfrm>
            <a:off x="777240" y="5413248"/>
            <a:ext cx="4892040"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Launch a structured early-tenure program: welcome offers, check-ins, satisfaction surveys.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539"/>
        </a:solidFill>
        <a:effectLst/>
      </p:bgPr>
    </p:bg>
    <p:spTree>
      <p:nvGrpSpPr>
        <p:cNvPr id="1" name=""/>
        <p:cNvGrpSpPr/>
        <p:nvPr/>
      </p:nvGrpSpPr>
      <p:grpSpPr>
        <a:xfrm>
          <a:off x="0" y="0"/>
          <a:ext cx="0" cy="0"/>
          <a:chOff x="0" y="0"/>
          <a:chExt cx="0" cy="0"/>
        </a:xfrm>
      </p:grpSpPr>
      <p:sp>
        <p:nvSpPr>
          <p:cNvPr id="2" name="Text 0"/>
          <p:cNvSpPr/>
          <p:nvPr/>
        </p:nvSpPr>
        <p:spPr>
          <a:xfrm>
            <a:off x="731520" y="2103120"/>
            <a:ext cx="1069848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p:nvPr/>
        </p:nvSpPr>
        <p:spPr>
          <a:xfrm>
            <a:off x="731520" y="2926080"/>
            <a:ext cx="9601200" cy="2011680"/>
          </a:xfrm>
          <a:prstGeom prst="rect">
            <a:avLst/>
          </a:prstGeom>
          <a:noFill/>
          <a:ln/>
        </p:spPr>
        <p:txBody>
          <a:bodyPr wrap="square" rtlCol="0" anchor="t"/>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Churn at  Telecom is not random. It concentrates around contract flexibility, payment method and Fiber optic service. These factors compound into a precise, targetable high-risk profile. Prioritizing contract conversion, payment automation and early-tenure retention offers the clearest path to a measurable sustainable reduction in churn.</a:t>
            </a:r>
            <a:endParaRPr lang="en-US" sz="1600" dirty="0"/>
          </a:p>
        </p:txBody>
      </p:sp>
      <p:sp>
        <p:nvSpPr>
          <p:cNvPr id="4" name="Text 2"/>
          <p:cNvSpPr/>
          <p:nvPr/>
        </p:nvSpPr>
        <p:spPr>
          <a:xfrm>
            <a:off x="731520" y="6035040"/>
            <a:ext cx="7315200" cy="365760"/>
          </a:xfrm>
          <a:prstGeom prst="rect">
            <a:avLst/>
          </a:prstGeom>
          <a:noFill/>
          <a:ln/>
        </p:spPr>
        <p:txBody>
          <a:bodyPr wrap="square" rtlCol="0" anchor="ctr"/>
          <a:lstStyle/>
          <a:p>
            <a:pPr marL="0" indent="0">
              <a:buNone/>
            </a:pPr>
            <a:r>
              <a:rPr lang="en-US" sz="1300" dirty="0">
                <a:solidFill>
                  <a:srgbClr val="9FB3D9"/>
                </a:solidFill>
                <a:latin typeface="Calibri" pitchFamily="34" charset="0"/>
                <a:ea typeface="Calibri" pitchFamily="34" charset="-122"/>
                <a:cs typeface="Calibri" pitchFamily="34" charset="-120"/>
              </a:rPr>
              <a:t>AnalystLab Africa Consulting — Week 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Palissad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TotalTime>
  <Words>732</Words>
  <Application>Microsoft Office PowerPoint</Application>
  <PresentationFormat>Grand écran</PresentationFormat>
  <Paragraphs>99</Paragraphs>
  <Slides>10</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Arial</vt:lpstr>
      <vt:lpstr>Calibri</vt:lpstr>
      <vt:lpstr>Calibri Light</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Stéphanie</dc:creator>
  <cp:lastModifiedBy>stephanie hounkpati</cp:lastModifiedBy>
  <cp:revision>3</cp:revision>
  <dcterms:created xsi:type="dcterms:W3CDTF">2026-08-05T02:32:15Z</dcterms:created>
  <dcterms:modified xsi:type="dcterms:W3CDTF">2026-08-05T12:52:32Z</dcterms:modified>
</cp:coreProperties>
</file>